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2"/>
  </p:notesMasterIdLst>
  <p:sldIdLst>
    <p:sldId id="263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4"/>
  </p:normalViewPr>
  <p:slideViewPr>
    <p:cSldViewPr snapToGrid="0" snapToObjects="1">
      <p:cViewPr>
        <p:scale>
          <a:sx n="111" d="100"/>
          <a:sy n="111" d="100"/>
        </p:scale>
        <p:origin x="-2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8F13F-8C07-4644-A9BF-29F278652FC9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1D6D8-6F32-D24B-8C55-CBB11BA9C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924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1D6D8-6F32-D24B-8C55-CBB11BA9C71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637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81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06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01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62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94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5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713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901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79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41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78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C1868-4375-FA48-89E5-1A7F3871D6F3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6BEF0-4F06-1F4E-892D-1397350C9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311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su.ifmo.ru/pls/apex/f?p=2143:DEP:116604708511690::NO:RP:BUN_BUN_ID,STR_STR_ID,UBU_UBU_ID:111773,1,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lakshmi25npathi/imdb-dataset-of-50k-movie-review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>
            <a:spLocks noGrp="1"/>
          </p:cNvSpPr>
          <p:nvPr>
            <p:ph type="ctrTitle"/>
          </p:nvPr>
        </p:nvSpPr>
        <p:spPr>
          <a:xfrm>
            <a:off x="1673000" y="2929299"/>
            <a:ext cx="8846000" cy="93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5200"/>
            </a:pPr>
            <a:r>
              <a:rPr lang="ru-RU" sz="2400" i="0" u="none" strike="noStrike" dirty="0">
                <a:effectLst/>
                <a:latin typeface="Arial" panose="020B0604020202020204" pitchFamily="34" charset="0"/>
              </a:rPr>
              <a:t>Анализ пользовательских отзывов с </a:t>
            </a:r>
            <a:r>
              <a:rPr lang="en" sz="2400" i="0" u="none" strike="noStrike" dirty="0">
                <a:effectLst/>
                <a:latin typeface="Arial" panose="020B0604020202020204" pitchFamily="34" charset="0"/>
              </a:rPr>
              <a:t>NLP</a:t>
            </a:r>
            <a:endParaRPr sz="3733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534" y="292767"/>
            <a:ext cx="1453233" cy="39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0034" y="381918"/>
            <a:ext cx="841167" cy="21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45333" y="414834"/>
            <a:ext cx="1842432" cy="153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1"/>
          <p:cNvCxnSpPr/>
          <p:nvPr/>
        </p:nvCxnSpPr>
        <p:spPr>
          <a:xfrm flipH="1">
            <a:off x="9364267" y="338800"/>
            <a:ext cx="8000" cy="305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1"/>
          <p:cNvSpPr txBox="1"/>
          <p:nvPr/>
        </p:nvSpPr>
        <p:spPr>
          <a:xfrm>
            <a:off x="0" y="771033"/>
            <a:ext cx="12192000" cy="1394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algn="ctr">
              <a:lnSpc>
                <a:spcPct val="130000"/>
              </a:lnSpc>
              <a:buClr>
                <a:srgbClr val="000000"/>
              </a:buClr>
              <a:buSzPts val="1000"/>
            </a:pPr>
            <a:r>
              <a:rPr lang="ru-RU" sz="1333"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Федерации</a:t>
            </a:r>
            <a:endParaRPr sz="1333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50000"/>
              </a:lnSpc>
              <a:buClr>
                <a:srgbClr val="000000"/>
              </a:buClr>
              <a:buSzPts val="1000"/>
            </a:pPr>
            <a:r>
              <a:rPr lang="ru-RU" sz="1333"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</a:t>
            </a:r>
            <a:br>
              <a:rPr lang="ru-RU" sz="1333">
                <a:latin typeface="Arial"/>
                <a:ea typeface="Arial"/>
                <a:cs typeface="Arial"/>
                <a:sym typeface="Arial"/>
              </a:rPr>
            </a:br>
            <a:r>
              <a:rPr lang="ru-RU" sz="1333">
                <a:latin typeface="Arial"/>
                <a:ea typeface="Arial"/>
                <a:cs typeface="Arial"/>
                <a:sym typeface="Arial"/>
              </a:rPr>
              <a:t>ОБРАЗОВАТЕЛЬНОЕ УЧРЕЖДЕНИЕ ВЫСШЕГО ОБРАЗОВАНИЯ</a:t>
            </a:r>
            <a:endParaRPr sz="1333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30000"/>
              </a:lnSpc>
              <a:buClr>
                <a:srgbClr val="000000"/>
              </a:buClr>
              <a:buSzPts val="1000"/>
            </a:pPr>
            <a:r>
              <a:rPr lang="ru-RU" sz="1333">
                <a:latin typeface="Arial"/>
                <a:ea typeface="Arial"/>
                <a:cs typeface="Arial"/>
                <a:sym typeface="Arial"/>
              </a:rPr>
              <a:t>«Национальный исследовательский университет ИТМО» (Университет ИТМО)</a:t>
            </a:r>
            <a:endParaRPr sz="1333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1218600" y="2013601"/>
            <a:ext cx="9754800" cy="1497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ru-RU" sz="1333" b="1" dirty="0">
                <a:latin typeface="Arial"/>
                <a:ea typeface="Arial"/>
                <a:cs typeface="Arial"/>
                <a:sym typeface="Arial"/>
              </a:rPr>
              <a:t>Факультет:</a:t>
            </a:r>
            <a:r>
              <a:rPr lang="ru-RU" sz="1333" dirty="0">
                <a:latin typeface="Arial"/>
                <a:ea typeface="Arial"/>
                <a:cs typeface="Arial"/>
                <a:sym typeface="Arial"/>
              </a:rPr>
              <a:t>      ИПКН</a:t>
            </a:r>
            <a:endParaRPr sz="1333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000"/>
            </a:pPr>
            <a:r>
              <a:rPr lang="ru-RU" sz="1333" b="1" dirty="0">
                <a:latin typeface="Arial"/>
                <a:ea typeface="Arial"/>
                <a:cs typeface="Arial"/>
                <a:sym typeface="Arial"/>
              </a:rPr>
              <a:t>Образовательная программа:</a:t>
            </a:r>
            <a:r>
              <a:rPr lang="ru-RU" sz="1333" dirty="0">
                <a:latin typeface="Arial"/>
                <a:ea typeface="Arial"/>
                <a:cs typeface="Arial"/>
                <a:sym typeface="Arial"/>
              </a:rPr>
              <a:t>  Искусственный интеллект</a:t>
            </a:r>
            <a:endParaRPr sz="1333" dirty="0"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ru-RU" sz="1333" b="1" dirty="0">
                <a:latin typeface="Arial"/>
                <a:ea typeface="Arial"/>
                <a:cs typeface="Arial"/>
                <a:sym typeface="Arial"/>
              </a:rPr>
              <a:t>Направление подготовки (специальность): </a:t>
            </a:r>
            <a:r>
              <a:rPr lang="ru-RU" sz="1333" dirty="0">
                <a:latin typeface="Arial"/>
                <a:ea typeface="Arial"/>
                <a:cs typeface="Arial"/>
                <a:sym typeface="Arial"/>
              </a:rPr>
              <a:t>27.04.05 </a:t>
            </a:r>
            <a:r>
              <a:rPr lang="ru-RU" sz="1333" dirty="0" err="1">
                <a:latin typeface="Arial"/>
                <a:ea typeface="Arial"/>
                <a:cs typeface="Arial"/>
                <a:sym typeface="Arial"/>
              </a:rPr>
              <a:t>Инноватика</a:t>
            </a:r>
            <a:endParaRPr sz="2400" dirty="0"/>
          </a:p>
          <a:p>
            <a:pPr algn="ctr"/>
            <a:endParaRPr sz="1333" dirty="0">
              <a:highlight>
                <a:srgbClr val="201699"/>
              </a:highlight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000"/>
            </a:pPr>
            <a:endParaRPr sz="1333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100"/>
            </a:pPr>
            <a:r>
              <a:rPr lang="ru-RU" sz="1467" dirty="0">
                <a:latin typeface="Arial"/>
                <a:ea typeface="Arial"/>
                <a:cs typeface="Arial"/>
                <a:sym typeface="Arial"/>
              </a:rPr>
              <a:t>Отчет по </a:t>
            </a:r>
            <a:r>
              <a:rPr lang="ru-RU" sz="1467" b="1" dirty="0">
                <a:latin typeface="Arial"/>
                <a:ea typeface="Arial"/>
                <a:cs typeface="Arial"/>
                <a:sym typeface="Arial"/>
              </a:rPr>
              <a:t>Производственной практике</a:t>
            </a:r>
            <a:endParaRPr sz="1733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7703400" y="4629552"/>
            <a:ext cx="41944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ru-RU" sz="1600" b="1" dirty="0">
                <a:latin typeface="Arial"/>
                <a:ea typeface="Arial"/>
                <a:cs typeface="Arial"/>
                <a:sym typeface="Arial"/>
              </a:rPr>
              <a:t>Выполнено</a:t>
            </a:r>
            <a:r>
              <a:rPr lang="ru-RU"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 i="1" dirty="0">
                <a:latin typeface="Arial"/>
                <a:ea typeface="Arial"/>
                <a:cs typeface="Arial"/>
                <a:sym typeface="Arial"/>
              </a:rPr>
              <a:t>студентом группы №М4157</a:t>
            </a:r>
            <a:br>
              <a:rPr lang="ru-RU" sz="1600" i="1" dirty="0">
                <a:highlight>
                  <a:srgbClr val="201699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ru-RU" sz="1600" i="1" dirty="0">
                <a:latin typeface="Arial"/>
                <a:ea typeface="Arial"/>
                <a:cs typeface="Arial"/>
                <a:sym typeface="Arial"/>
              </a:rPr>
              <a:t>Мухтаров </a:t>
            </a:r>
            <a:r>
              <a:rPr lang="ru-RU" sz="1600" i="1" dirty="0" err="1">
                <a:latin typeface="Arial"/>
                <a:ea typeface="Arial"/>
                <a:cs typeface="Arial"/>
                <a:sym typeface="Arial"/>
              </a:rPr>
              <a:t>Тимерлан</a:t>
            </a:r>
            <a:r>
              <a:rPr lang="ru-RU" sz="16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 i="1" dirty="0" err="1">
                <a:latin typeface="Arial"/>
                <a:ea typeface="Arial"/>
                <a:cs typeface="Arial"/>
                <a:sym typeface="Arial"/>
              </a:rPr>
              <a:t>Тахирович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algn="r">
              <a:buClr>
                <a:srgbClr val="000000"/>
              </a:buClr>
              <a:buSzPts val="1200"/>
            </a:pPr>
            <a:r>
              <a:rPr lang="ru-RU" sz="1600" b="1" dirty="0">
                <a:latin typeface="Arial"/>
                <a:ea typeface="Arial"/>
                <a:cs typeface="Arial"/>
                <a:sym typeface="Arial"/>
              </a:rPr>
              <a:t>Руководитель практики: </a:t>
            </a:r>
            <a:r>
              <a:rPr lang="ru-RU" sz="1600" i="1" dirty="0">
                <a:latin typeface="Arial"/>
                <a:ea typeface="Arial"/>
                <a:cs typeface="Arial"/>
                <a:sym typeface="Arial"/>
              </a:rPr>
              <a:t>Ботов Дмитрий Сергеевич, </a:t>
            </a:r>
            <a:r>
              <a:rPr lang="ru-RU" sz="1333" dirty="0">
                <a:latin typeface="Arial"/>
                <a:ea typeface="Arial"/>
                <a:cs typeface="Arial"/>
                <a:sym typeface="Arial"/>
              </a:rPr>
              <a:t>доцент</a:t>
            </a:r>
            <a:r>
              <a:rPr lang="ru-RU" sz="16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 i="1" dirty="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института прикладных компьютерных наук</a:t>
            </a:r>
            <a:r>
              <a:rPr lang="ru-RU" sz="1600" b="1" dirty="0">
                <a:latin typeface="Arial"/>
                <a:ea typeface="Arial"/>
                <a:cs typeface="Arial"/>
                <a:sym typeface="Arial"/>
              </a:rPr>
              <a:t>                      </a:t>
            </a:r>
            <a:endParaRPr sz="9333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4096000" y="6201200"/>
            <a:ext cx="4000000" cy="65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ru-RU" sz="1333">
                <a:latin typeface="Arial"/>
                <a:ea typeface="Arial"/>
                <a:cs typeface="Arial"/>
                <a:sym typeface="Arial"/>
              </a:rPr>
              <a:t>Санкт-Петербург</a:t>
            </a:r>
            <a:br>
              <a:rPr lang="ru-RU" sz="1333">
                <a:latin typeface="Arial"/>
                <a:ea typeface="Arial"/>
                <a:cs typeface="Arial"/>
                <a:sym typeface="Arial"/>
              </a:rPr>
            </a:br>
            <a:r>
              <a:rPr lang="ru-RU" sz="1333">
                <a:latin typeface="Arial"/>
                <a:ea typeface="Arial"/>
                <a:cs typeface="Arial"/>
                <a:sym typeface="Arial"/>
              </a:rPr>
              <a:t>2025</a:t>
            </a:r>
            <a:endParaRPr sz="1333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DBA15-6E08-7D41-B3D2-858E22A72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Для чего нужен анализ пользовательских отзывов?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34D82E-D853-014F-AAEB-1D7B44C8E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656"/>
            <a:ext cx="10515600" cy="472830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Обратная связь клиентов — это очень важная часть любого бизнеса. Важно уметь извлекать из этого пользу, для этого нужно ответить на ключевые вопросы: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Что волнует клиентов?</a:t>
            </a:r>
          </a:p>
          <a:p>
            <a:pPr>
              <a:lnSpc>
                <a:spcPct val="120000"/>
              </a:lnSpc>
            </a:pPr>
            <a:r>
              <a:rPr lang="ru-RU" dirty="0"/>
              <a:t>Какие аспекты товаров/услуг упоминаются чаще всего?</a:t>
            </a:r>
          </a:p>
          <a:p>
            <a:pPr>
              <a:lnSpc>
                <a:spcPct val="120000"/>
              </a:lnSpc>
            </a:pPr>
            <a:r>
              <a:rPr lang="ru-RU" dirty="0"/>
              <a:t>Какие темы доминируют в отзывах?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Где «проблемные места»?</a:t>
            </a:r>
          </a:p>
          <a:p>
            <a:pPr>
              <a:lnSpc>
                <a:spcPct val="120000"/>
              </a:lnSpc>
            </a:pPr>
            <a:r>
              <a:rPr lang="ru-RU" dirty="0"/>
              <a:t>Какие темы вызывают наибольшее недовольство?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Что думает большинство?</a:t>
            </a:r>
          </a:p>
          <a:p>
            <a:pPr>
              <a:lnSpc>
                <a:spcPct val="120000"/>
              </a:lnSpc>
            </a:pPr>
            <a:r>
              <a:rPr lang="ru-RU" dirty="0"/>
              <a:t>Как распределяются оценки (позитив/негатив)?</a:t>
            </a:r>
            <a:br>
              <a:rPr lang="ru-RU" dirty="0"/>
            </a:br>
            <a:endParaRPr lang="ru-RU" dirty="0"/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Автоматизированный анализ позволяет:</a:t>
            </a:r>
          </a:p>
          <a:p>
            <a:pPr>
              <a:lnSpc>
                <a:spcPct val="120000"/>
              </a:lnSpc>
            </a:pPr>
            <a:r>
              <a:rPr lang="ru-RU" dirty="0"/>
              <a:t>Выявлять скрытые проблемы до масштабных потерь репутации</a:t>
            </a:r>
          </a:p>
          <a:p>
            <a:pPr>
              <a:lnSpc>
                <a:spcPct val="120000"/>
              </a:lnSpc>
            </a:pPr>
            <a:r>
              <a:rPr lang="ru-RU" dirty="0"/>
              <a:t>Формировать дата-</a:t>
            </a:r>
            <a:r>
              <a:rPr lang="ru-RU" dirty="0" err="1"/>
              <a:t>драйвен</a:t>
            </a:r>
            <a:r>
              <a:rPr lang="ru-RU" dirty="0"/>
              <a:t> стратегии улучшения продукта</a:t>
            </a:r>
          </a:p>
          <a:p>
            <a:pPr>
              <a:lnSpc>
                <a:spcPct val="120000"/>
              </a:lnSpc>
            </a:pPr>
            <a:r>
              <a:rPr lang="ru-RU" dirty="0"/>
              <a:t>Экономить сотни часов ручной обработки отзывов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52E68A1-99BF-4046-BE91-D9160F9DA444}"/>
              </a:ext>
            </a:extLst>
          </p:cNvPr>
          <p:cNvGrpSpPr/>
          <p:nvPr/>
        </p:nvGrpSpPr>
        <p:grpSpPr>
          <a:xfrm>
            <a:off x="8143387" y="216000"/>
            <a:ext cx="3755375" cy="298250"/>
            <a:chOff x="8143387" y="216000"/>
            <a:chExt cx="3755375" cy="298250"/>
          </a:xfrm>
        </p:grpSpPr>
        <p:pic>
          <p:nvPicPr>
            <p:cNvPr id="8" name="Google Shape;61;p2">
              <a:extLst>
                <a:ext uri="{FF2B5EF4-FFF2-40B4-BE49-F238E27FC236}">
                  <a16:creationId xmlns:a16="http://schemas.microsoft.com/office/drawing/2014/main" id="{C245EB37-12E1-7045-B6C6-E96CD18E0F0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08837" y="216000"/>
              <a:ext cx="1089925" cy="29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62;p2">
              <a:extLst>
                <a:ext uri="{FF2B5EF4-FFF2-40B4-BE49-F238E27FC236}">
                  <a16:creationId xmlns:a16="http://schemas.microsoft.com/office/drawing/2014/main" id="{866878D7-74C0-2B49-BFD6-CEEBE39711C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43387" y="294971"/>
              <a:ext cx="630875" cy="16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63;p2">
              <a:extLst>
                <a:ext uri="{FF2B5EF4-FFF2-40B4-BE49-F238E27FC236}">
                  <a16:creationId xmlns:a16="http://schemas.microsoft.com/office/drawing/2014/main" id="{C90D751D-88E5-2145-8797-524BD71DA96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89862" y="319658"/>
              <a:ext cx="1381824" cy="115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" name="Google Shape;64;p2">
              <a:extLst>
                <a:ext uri="{FF2B5EF4-FFF2-40B4-BE49-F238E27FC236}">
                  <a16:creationId xmlns:a16="http://schemas.microsoft.com/office/drawing/2014/main" id="{049FC156-7AEA-FF47-BAD8-9995F9232C12}"/>
                </a:ext>
              </a:extLst>
            </p:cNvPr>
            <p:cNvCxnSpPr/>
            <p:nvPr/>
          </p:nvCxnSpPr>
          <p:spPr>
            <a:xfrm flipH="1">
              <a:off x="8979062" y="262633"/>
              <a:ext cx="6000" cy="2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245925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7E7BF-20A2-DB45-8F38-A403F6E2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решать задачу?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FA50F7-5BAC-DB4D-8B94-7583A896E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u="none" strike="noStrike" dirty="0">
                <a:effectLst/>
                <a:latin typeface="Arial" panose="020B0604020202020204" pitchFamily="34" charset="0"/>
              </a:rPr>
              <a:t>Цель</a:t>
            </a:r>
            <a:endParaRPr lang="ru-RU" b="0" dirty="0">
              <a:effectLst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Создать инструмент для автоматического анализа отзывов на товары/услуги, выявления тем и пользовательских настроений.</a:t>
            </a:r>
            <a:endParaRPr lang="ru-RU" b="0" dirty="0">
              <a:effectLst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u="none" strike="noStrike" dirty="0">
                <a:effectLst/>
                <a:latin typeface="Arial" panose="020B0604020202020204" pitchFamily="34" charset="0"/>
              </a:rPr>
              <a:t>Этапы:</a:t>
            </a:r>
            <a:endParaRPr lang="ru-RU" b="0" dirty="0">
              <a:effectLst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• Найти </a:t>
            </a:r>
            <a:r>
              <a:rPr lang="ru-RU" sz="1800" b="0" i="0" u="none" strike="noStrike" dirty="0" err="1">
                <a:effectLst/>
                <a:latin typeface="Arial" panose="020B0604020202020204" pitchFamily="34" charset="0"/>
              </a:rPr>
              <a:t>датасет</a:t>
            </a: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 с отзывами (</a:t>
            </a:r>
            <a:r>
              <a:rPr lang="en" sz="1800" b="0" i="0" u="none" strike="noStrike" dirty="0">
                <a:effectLst/>
                <a:latin typeface="Arial" panose="020B0604020202020204" pitchFamily="34" charset="0"/>
              </a:rPr>
              <a:t>Amazon, IMDB, App Store </a:t>
            </a: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и др.).</a:t>
            </a:r>
            <a:endParaRPr lang="ru-RU" b="0" dirty="0">
              <a:effectLst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• Провести предобработку данных (чистка, </a:t>
            </a:r>
            <a:r>
              <a:rPr lang="ru-RU" sz="1800" b="0" i="0" u="none" strike="noStrike" dirty="0" err="1">
                <a:effectLst/>
                <a:latin typeface="Arial" panose="020B0604020202020204" pitchFamily="34" charset="0"/>
              </a:rPr>
              <a:t>токенизация</a:t>
            </a: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ru-RU" sz="1800" b="0" i="0" u="none" strike="noStrike" dirty="0" err="1">
                <a:effectLst/>
                <a:latin typeface="Arial" panose="020B0604020202020204" pitchFamily="34" charset="0"/>
              </a:rPr>
              <a:t>лемматизация</a:t>
            </a: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).</a:t>
            </a:r>
            <a:endParaRPr lang="ru-RU" b="0" dirty="0">
              <a:effectLst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• Использовать методы </a:t>
            </a:r>
            <a:r>
              <a:rPr lang="en" sz="1800" b="0" i="0" u="none" strike="noStrike" dirty="0">
                <a:effectLst/>
                <a:latin typeface="Arial" panose="020B0604020202020204" pitchFamily="34" charset="0"/>
              </a:rPr>
              <a:t>NLP (</a:t>
            </a:r>
            <a:r>
              <a:rPr lang="en" sz="1800" b="0" i="0" u="none" strike="noStrike" dirty="0" err="1">
                <a:effectLst/>
                <a:latin typeface="Arial" panose="020B0604020202020204" pitchFamily="34" charset="0"/>
              </a:rPr>
              <a:t>BERTopic</a:t>
            </a:r>
            <a:r>
              <a:rPr lang="en" sz="1800" b="0" i="0" u="none" strike="noStrike" dirty="0">
                <a:effectLst/>
                <a:latin typeface="Arial" panose="020B0604020202020204" pitchFamily="34" charset="0"/>
              </a:rPr>
              <a:t>) </a:t>
            </a: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для тематического моделирования.</a:t>
            </a:r>
            <a:endParaRPr lang="ru-RU" b="0" dirty="0">
              <a:effectLst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• Обучить модель </a:t>
            </a:r>
            <a:r>
              <a:rPr lang="en" sz="1800" b="0" i="0" u="none" strike="noStrike" dirty="0">
                <a:effectLst/>
                <a:latin typeface="Arial" panose="020B0604020202020204" pitchFamily="34" charset="0"/>
              </a:rPr>
              <a:t>Sentiment Analysis.</a:t>
            </a:r>
            <a:endParaRPr lang="en" b="0" dirty="0">
              <a:effectLst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0" i="0" u="none" strike="noStrike" dirty="0">
                <a:effectLst/>
                <a:latin typeface="Arial" panose="020B0604020202020204" pitchFamily="34" charset="0"/>
              </a:rPr>
              <a:t>• </a:t>
            </a:r>
            <a:r>
              <a:rPr lang="ru-RU" sz="1800" b="0" i="0" u="none" strike="noStrike" dirty="0">
                <a:effectLst/>
                <a:latin typeface="Arial" panose="020B0604020202020204" pitchFamily="34" charset="0"/>
              </a:rPr>
              <a:t>Визуализировать результаты в отчете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7CC4B25-8029-6A4E-90C5-9DE8D90ED0C9}"/>
              </a:ext>
            </a:extLst>
          </p:cNvPr>
          <p:cNvGrpSpPr/>
          <p:nvPr/>
        </p:nvGrpSpPr>
        <p:grpSpPr>
          <a:xfrm>
            <a:off x="8143387" y="216000"/>
            <a:ext cx="3755375" cy="298250"/>
            <a:chOff x="8143387" y="216000"/>
            <a:chExt cx="3755375" cy="298250"/>
          </a:xfrm>
        </p:grpSpPr>
        <p:pic>
          <p:nvPicPr>
            <p:cNvPr id="5" name="Google Shape;61;p2">
              <a:extLst>
                <a:ext uri="{FF2B5EF4-FFF2-40B4-BE49-F238E27FC236}">
                  <a16:creationId xmlns:a16="http://schemas.microsoft.com/office/drawing/2014/main" id="{0484FAE7-9255-5048-A5BD-64AA976F551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08837" y="216000"/>
              <a:ext cx="1089925" cy="29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62;p2">
              <a:extLst>
                <a:ext uri="{FF2B5EF4-FFF2-40B4-BE49-F238E27FC236}">
                  <a16:creationId xmlns:a16="http://schemas.microsoft.com/office/drawing/2014/main" id="{591A380E-6010-E04D-8F0D-F989908466D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43387" y="294971"/>
              <a:ext cx="630875" cy="16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63;p2">
              <a:extLst>
                <a:ext uri="{FF2B5EF4-FFF2-40B4-BE49-F238E27FC236}">
                  <a16:creationId xmlns:a16="http://schemas.microsoft.com/office/drawing/2014/main" id="{1DFC1113-24CC-1547-B3DD-29DFAE852C7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89862" y="319658"/>
              <a:ext cx="1381824" cy="115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" name="Google Shape;64;p2">
              <a:extLst>
                <a:ext uri="{FF2B5EF4-FFF2-40B4-BE49-F238E27FC236}">
                  <a16:creationId xmlns:a16="http://schemas.microsoft.com/office/drawing/2014/main" id="{E1E4A232-66EF-1E48-84DC-483211CDC7F8}"/>
                </a:ext>
              </a:extLst>
            </p:cNvPr>
            <p:cNvCxnSpPr/>
            <p:nvPr/>
          </p:nvCxnSpPr>
          <p:spPr>
            <a:xfrm flipH="1">
              <a:off x="8979062" y="262633"/>
              <a:ext cx="6000" cy="2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28056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EBDB4-22C1-6048-A3D7-3A5E41D8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3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 err="1"/>
              <a:t>Датасет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431A2E-2870-144D-976F-258EFC9F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9" y="1017142"/>
            <a:ext cx="11405172" cy="5589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качестве источника данных был выбран </a:t>
            </a:r>
            <a:r>
              <a:rPr lang="ru-RU" sz="2000" dirty="0" err="1"/>
              <a:t>датасет</a:t>
            </a:r>
            <a:r>
              <a:rPr lang="ru-RU" sz="2000" dirty="0"/>
              <a:t> с отзывами о фильмах с портала </a:t>
            </a:r>
            <a:r>
              <a:rPr lang="en-US" sz="2000" dirty="0"/>
              <a:t>IMDB</a:t>
            </a:r>
            <a:r>
              <a:rPr lang="ru-RU" sz="2000" dirty="0"/>
              <a:t>: 50.000 размеченных на положительные/</a:t>
            </a:r>
            <a:r>
              <a:rPr lang="en-US" sz="2000" dirty="0" err="1"/>
              <a:t>н</a:t>
            </a:r>
            <a:r>
              <a:rPr lang="ru-RU" sz="2000" dirty="0" err="1"/>
              <a:t>егативные</a:t>
            </a:r>
            <a:r>
              <a:rPr lang="ru-RU" sz="2000" dirty="0"/>
              <a:t> отзывов.</a:t>
            </a:r>
          </a:p>
          <a:p>
            <a:pPr marL="0" indent="0">
              <a:buNone/>
            </a:pPr>
            <a:r>
              <a:rPr lang="ru-RU" sz="2000" dirty="0"/>
              <a:t>Пример отзыва: </a:t>
            </a:r>
          </a:p>
          <a:p>
            <a:pPr marL="0" indent="0">
              <a:buNone/>
            </a:pPr>
            <a:r>
              <a:rPr lang="ru-RU" sz="2000" dirty="0"/>
              <a:t>«</a:t>
            </a:r>
            <a:r>
              <a:rPr lang="en" sz="2000" dirty="0"/>
              <a:t>One of the other reviewers has mentioned that after watching just 1 Oz episode you'll be hooked. They are right, as this is exactly what happened with me.&lt;</a:t>
            </a:r>
            <a:r>
              <a:rPr lang="en" sz="2000" dirty="0" err="1"/>
              <a:t>br</a:t>
            </a:r>
            <a:r>
              <a:rPr lang="en" sz="2000" dirty="0"/>
              <a:t> /&gt;&lt;</a:t>
            </a:r>
            <a:r>
              <a:rPr lang="en" sz="2000" dirty="0" err="1"/>
              <a:t>br</a:t>
            </a:r>
            <a:r>
              <a:rPr lang="en" sz="2000" dirty="0"/>
              <a:t> /&gt;The first thing that struck me about Oz was its brutality and unflinching scenes of violence, which set in right from the word GO. Trust me, this is not a show for the faint hearted or timid. This show pulls no punches with regards to drugs, sex or violence. Its is hardcore, in the classic use of the word.&lt;</a:t>
            </a:r>
            <a:r>
              <a:rPr lang="en" sz="2000" dirty="0" err="1"/>
              <a:t>br</a:t>
            </a:r>
            <a:r>
              <a:rPr lang="en" sz="2000" dirty="0"/>
              <a:t> /&gt;&lt;</a:t>
            </a:r>
            <a:r>
              <a:rPr lang="en" sz="2000" dirty="0" err="1"/>
              <a:t>br</a:t>
            </a:r>
            <a:r>
              <a:rPr lang="en" sz="2000" dirty="0"/>
              <a:t> /&gt;It is called</a:t>
            </a:r>
            <a:r>
              <a:rPr lang="ru-RU" sz="2000" dirty="0"/>
              <a:t>…»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–</a:t>
            </a:r>
            <a:r>
              <a:rPr lang="en-US" sz="2000" dirty="0"/>
              <a:t>&gt; Positive</a:t>
            </a:r>
            <a:endParaRPr lang="ru-RU" sz="2000" dirty="0">
              <a:hlinkClick r:id="rId3"/>
            </a:endParaRPr>
          </a:p>
          <a:p>
            <a:pPr marL="0" indent="0">
              <a:buNone/>
            </a:pPr>
            <a:r>
              <a:rPr lang="ru-RU" sz="2000" dirty="0">
                <a:hlinkClick r:id="rId3"/>
              </a:rPr>
              <a:t>Ссылка на источник</a:t>
            </a:r>
            <a:endParaRPr lang="ru-RU" sz="20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E91E437-FD0D-F348-88F7-91704917E559}"/>
              </a:ext>
            </a:extLst>
          </p:cNvPr>
          <p:cNvGrpSpPr/>
          <p:nvPr/>
        </p:nvGrpSpPr>
        <p:grpSpPr>
          <a:xfrm>
            <a:off x="8143387" y="216000"/>
            <a:ext cx="3755375" cy="298250"/>
            <a:chOff x="8143387" y="216000"/>
            <a:chExt cx="3755375" cy="298250"/>
          </a:xfrm>
        </p:grpSpPr>
        <p:pic>
          <p:nvPicPr>
            <p:cNvPr id="5" name="Google Shape;61;p2">
              <a:extLst>
                <a:ext uri="{FF2B5EF4-FFF2-40B4-BE49-F238E27FC236}">
                  <a16:creationId xmlns:a16="http://schemas.microsoft.com/office/drawing/2014/main" id="{1C8E79D9-AF6B-D742-8CF2-1DD4069A883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808837" y="216000"/>
              <a:ext cx="1089925" cy="29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62;p2">
              <a:extLst>
                <a:ext uri="{FF2B5EF4-FFF2-40B4-BE49-F238E27FC236}">
                  <a16:creationId xmlns:a16="http://schemas.microsoft.com/office/drawing/2014/main" id="{F6AFED3F-0318-304D-80D3-C4BA97F5D23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143387" y="294971"/>
              <a:ext cx="630875" cy="16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63;p2">
              <a:extLst>
                <a:ext uri="{FF2B5EF4-FFF2-40B4-BE49-F238E27FC236}">
                  <a16:creationId xmlns:a16="http://schemas.microsoft.com/office/drawing/2014/main" id="{ADF11BDB-08BD-0B44-A2E2-341B59C2015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189862" y="319658"/>
              <a:ext cx="1381824" cy="115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" name="Google Shape;64;p2">
              <a:extLst>
                <a:ext uri="{FF2B5EF4-FFF2-40B4-BE49-F238E27FC236}">
                  <a16:creationId xmlns:a16="http://schemas.microsoft.com/office/drawing/2014/main" id="{F6859CC5-E27E-EA40-8755-2009C57D8257}"/>
                </a:ext>
              </a:extLst>
            </p:cNvPr>
            <p:cNvCxnSpPr/>
            <p:nvPr/>
          </p:nvCxnSpPr>
          <p:spPr>
            <a:xfrm flipH="1">
              <a:off x="8979062" y="262633"/>
              <a:ext cx="6000" cy="2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91463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0FEB9-1307-3144-B422-0201AC54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10" y="-1256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Предобработка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29F2D5-B354-134B-AB92-01434F307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72" y="1220527"/>
            <a:ext cx="6867418" cy="4894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1. Очистка от </a:t>
            </a:r>
            <a:r>
              <a:rPr lang="en-US" sz="2400" dirty="0"/>
              <a:t>html-</a:t>
            </a:r>
            <a:r>
              <a:rPr lang="en-US" sz="2400" dirty="0" err="1"/>
              <a:t>т</a:t>
            </a:r>
            <a:r>
              <a:rPr lang="ru-RU" sz="2400" dirty="0" err="1"/>
              <a:t>егов</a:t>
            </a:r>
            <a:r>
              <a:rPr lang="ru-RU" sz="2400" dirty="0"/>
              <a:t> - </a:t>
            </a:r>
            <a:r>
              <a:rPr lang="en-US" sz="2400" dirty="0"/>
              <a:t>&lt;</a:t>
            </a:r>
            <a:r>
              <a:rPr lang="en-US" sz="2400" dirty="0" err="1"/>
              <a:t>br</a:t>
            </a:r>
            <a:r>
              <a:rPr lang="en-US" sz="2400" dirty="0"/>
              <a:t>&gt;&lt;p&gt;…</a:t>
            </a:r>
          </a:p>
          <a:p>
            <a:pPr marL="0" indent="0">
              <a:buNone/>
            </a:pPr>
            <a:r>
              <a:rPr lang="en-US" sz="2400" dirty="0"/>
              <a:t>2. </a:t>
            </a:r>
            <a:r>
              <a:rPr lang="ru-RU" sz="2400" dirty="0"/>
              <a:t>Удаление лишних пробелов</a:t>
            </a:r>
          </a:p>
          <a:p>
            <a:pPr marL="0" indent="0">
              <a:buNone/>
            </a:pPr>
            <a:r>
              <a:rPr lang="ru-RU" sz="2400" dirty="0"/>
              <a:t>3. Удаление цифр/</a:t>
            </a:r>
            <a:r>
              <a:rPr lang="en-US" sz="2400" dirty="0" err="1"/>
              <a:t>с</a:t>
            </a:r>
            <a:r>
              <a:rPr lang="ru-RU" sz="2400" dirty="0" err="1"/>
              <a:t>пецсимволов</a:t>
            </a:r>
            <a:r>
              <a:rPr lang="ru-RU" sz="2400" dirty="0"/>
              <a:t> (кроме </a:t>
            </a:r>
            <a:r>
              <a:rPr lang="en-US" sz="2400" dirty="0"/>
              <a:t>`)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4. Приведение к нижнему регистру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5. </a:t>
            </a:r>
            <a:r>
              <a:rPr lang="ru-RU" sz="2400" dirty="0" err="1"/>
              <a:t>Лемматизация</a:t>
            </a:r>
            <a:r>
              <a:rPr lang="ru-RU" sz="2400" dirty="0"/>
              <a:t> (приведение к «начальной» форме слов)</a:t>
            </a:r>
          </a:p>
          <a:p>
            <a:pPr marL="0" indent="0">
              <a:buNone/>
            </a:pPr>
            <a:r>
              <a:rPr lang="ru-RU" sz="2400" dirty="0"/>
              <a:t>6. Удаление стоп-слов</a:t>
            </a:r>
          </a:p>
          <a:p>
            <a:pPr marL="0" indent="0">
              <a:buNone/>
            </a:pPr>
            <a:r>
              <a:rPr lang="ru-RU" sz="2400" dirty="0"/>
              <a:t>Всё это приводит к уменьшению словаря, улучшению качества последующего анализа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3CD2B8-CA27-DF42-BC50-5890EAC78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546" y="1312995"/>
            <a:ext cx="5908454" cy="3662761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966E3A-BEDA-7743-964E-0825B3CA52B1}"/>
              </a:ext>
            </a:extLst>
          </p:cNvPr>
          <p:cNvGrpSpPr/>
          <p:nvPr/>
        </p:nvGrpSpPr>
        <p:grpSpPr>
          <a:xfrm>
            <a:off x="8143387" y="216000"/>
            <a:ext cx="3755375" cy="298250"/>
            <a:chOff x="8143387" y="216000"/>
            <a:chExt cx="3755375" cy="298250"/>
          </a:xfrm>
        </p:grpSpPr>
        <p:pic>
          <p:nvPicPr>
            <p:cNvPr id="6" name="Google Shape;61;p2">
              <a:extLst>
                <a:ext uri="{FF2B5EF4-FFF2-40B4-BE49-F238E27FC236}">
                  <a16:creationId xmlns:a16="http://schemas.microsoft.com/office/drawing/2014/main" id="{4B4A819B-FB0E-3A45-9C51-4A693811A80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08837" y="216000"/>
              <a:ext cx="1089925" cy="29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62;p2">
              <a:extLst>
                <a:ext uri="{FF2B5EF4-FFF2-40B4-BE49-F238E27FC236}">
                  <a16:creationId xmlns:a16="http://schemas.microsoft.com/office/drawing/2014/main" id="{4948A9A8-6316-214C-8EF4-FB4CA1FDD20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43387" y="294971"/>
              <a:ext cx="630875" cy="16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63;p2">
              <a:extLst>
                <a:ext uri="{FF2B5EF4-FFF2-40B4-BE49-F238E27FC236}">
                  <a16:creationId xmlns:a16="http://schemas.microsoft.com/office/drawing/2014/main" id="{BECFF595-A529-6E45-B50E-7ABFD333A4A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189862" y="319658"/>
              <a:ext cx="1381824" cy="115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" name="Google Shape;64;p2">
              <a:extLst>
                <a:ext uri="{FF2B5EF4-FFF2-40B4-BE49-F238E27FC236}">
                  <a16:creationId xmlns:a16="http://schemas.microsoft.com/office/drawing/2014/main" id="{D7C3C801-6BE7-474B-A9C9-58F2EC06D0B9}"/>
                </a:ext>
              </a:extLst>
            </p:cNvPr>
            <p:cNvCxnSpPr/>
            <p:nvPr/>
          </p:nvCxnSpPr>
          <p:spPr>
            <a:xfrm flipH="1">
              <a:off x="8979062" y="262633"/>
              <a:ext cx="6000" cy="2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57185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B236A-B884-1840-9A0C-2372C9400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Тематическое моделирование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FBCFB3-3C0E-1F4E-90F8-77F13AA1A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656"/>
            <a:ext cx="10515600" cy="47283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Для распределения по темам был выбран </a:t>
            </a:r>
            <a:r>
              <a:rPr lang="en-US" dirty="0" err="1"/>
              <a:t>BERTopic</a:t>
            </a:r>
            <a:r>
              <a:rPr lang="ru-RU" dirty="0"/>
              <a:t>. Он сложнее и требует больше ресурсов, чем </a:t>
            </a:r>
            <a:r>
              <a:rPr lang="en-US" dirty="0"/>
              <a:t>LDA</a:t>
            </a:r>
            <a:r>
              <a:rPr lang="ru-RU" dirty="0"/>
              <a:t>, но качество тем и интерпретация результатов </a:t>
            </a:r>
            <a:r>
              <a:rPr lang="ru-RU" dirty="0" err="1"/>
              <a:t>лучшк</a:t>
            </a:r>
            <a:r>
              <a:rPr lang="en-US" dirty="0"/>
              <a:t>. </a:t>
            </a:r>
            <a:r>
              <a:rPr lang="ru-RU" dirty="0"/>
              <a:t>Его принцип работы следующий:</a:t>
            </a:r>
          </a:p>
          <a:p>
            <a:r>
              <a:rPr lang="ru-RU" dirty="0"/>
              <a:t>Векторизация текстов: Текст → </a:t>
            </a:r>
            <a:r>
              <a:rPr lang="ru-RU" dirty="0" err="1"/>
              <a:t>эмбеддинги</a:t>
            </a:r>
            <a:r>
              <a:rPr lang="ru-RU" dirty="0"/>
              <a:t> через </a:t>
            </a:r>
            <a:r>
              <a:rPr lang="en-US" dirty="0"/>
              <a:t>Sentence-BERT (</a:t>
            </a:r>
            <a:r>
              <a:rPr lang="ru-RU" dirty="0" err="1"/>
              <a:t>предобученная</a:t>
            </a:r>
            <a:r>
              <a:rPr lang="ru-RU" dirty="0"/>
              <a:t> </a:t>
            </a:r>
            <a:r>
              <a:rPr lang="ru-RU" dirty="0" err="1"/>
              <a:t>трансформерная</a:t>
            </a:r>
            <a:r>
              <a:rPr lang="ru-RU" dirty="0"/>
              <a:t> модель).</a:t>
            </a:r>
          </a:p>
          <a:p>
            <a:r>
              <a:rPr lang="ru-RU" dirty="0"/>
              <a:t>Кластеризация: под капотом у </a:t>
            </a:r>
            <a:r>
              <a:rPr lang="en-US" dirty="0" err="1"/>
              <a:t>BERTopic</a:t>
            </a:r>
            <a:r>
              <a:rPr lang="en-US" dirty="0"/>
              <a:t> </a:t>
            </a:r>
            <a:r>
              <a:rPr lang="ru-RU" dirty="0"/>
              <a:t>используется HD</a:t>
            </a:r>
            <a:r>
              <a:rPr lang="en-US" dirty="0"/>
              <a:t>BSCAN (</a:t>
            </a:r>
            <a:r>
              <a:rPr lang="ru-RU" dirty="0"/>
              <a:t>метод кластеризации), он группирует </a:t>
            </a:r>
            <a:r>
              <a:rPr lang="ru-RU" dirty="0" err="1"/>
              <a:t>эмбеддинги</a:t>
            </a:r>
            <a:r>
              <a:rPr lang="ru-RU" dirty="0"/>
              <a:t> в потенциальные темы</a:t>
            </a:r>
            <a:r>
              <a:rPr lang="en-US" dirty="0"/>
              <a:t> (</a:t>
            </a:r>
            <a:r>
              <a:rPr lang="ru-RU" dirty="0"/>
              <a:t>кол-во тем определяется автоматически)</a:t>
            </a:r>
          </a:p>
          <a:p>
            <a:r>
              <a:rPr lang="ru-RU" dirty="0"/>
              <a:t>Извлечение тем: при помощи </a:t>
            </a:r>
            <a:r>
              <a:rPr lang="en-US" dirty="0"/>
              <a:t>TF-IDF </a:t>
            </a:r>
            <a:r>
              <a:rPr lang="ru-RU" dirty="0"/>
              <a:t>вычисляет важность слов для каждого кластера, самые «важные» характеризуют тему 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65BC61C-659A-5B4F-AE8C-856EE358E626}"/>
              </a:ext>
            </a:extLst>
          </p:cNvPr>
          <p:cNvGrpSpPr/>
          <p:nvPr/>
        </p:nvGrpSpPr>
        <p:grpSpPr>
          <a:xfrm>
            <a:off x="8143387" y="216000"/>
            <a:ext cx="3755375" cy="298250"/>
            <a:chOff x="8143387" y="216000"/>
            <a:chExt cx="3755375" cy="298250"/>
          </a:xfrm>
        </p:grpSpPr>
        <p:pic>
          <p:nvPicPr>
            <p:cNvPr id="5" name="Google Shape;61;p2">
              <a:extLst>
                <a:ext uri="{FF2B5EF4-FFF2-40B4-BE49-F238E27FC236}">
                  <a16:creationId xmlns:a16="http://schemas.microsoft.com/office/drawing/2014/main" id="{E5875AC5-7313-714A-AF4F-FE094A6F9B7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08837" y="216000"/>
              <a:ext cx="1089925" cy="29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62;p2">
              <a:extLst>
                <a:ext uri="{FF2B5EF4-FFF2-40B4-BE49-F238E27FC236}">
                  <a16:creationId xmlns:a16="http://schemas.microsoft.com/office/drawing/2014/main" id="{00B056DE-2CFD-254A-B124-A60018D447F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43387" y="294971"/>
              <a:ext cx="630875" cy="16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63;p2">
              <a:extLst>
                <a:ext uri="{FF2B5EF4-FFF2-40B4-BE49-F238E27FC236}">
                  <a16:creationId xmlns:a16="http://schemas.microsoft.com/office/drawing/2014/main" id="{0AAC9C44-C65C-4F4A-BD5F-B44E94072C2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89862" y="319658"/>
              <a:ext cx="1381824" cy="115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" name="Google Shape;64;p2">
              <a:extLst>
                <a:ext uri="{FF2B5EF4-FFF2-40B4-BE49-F238E27FC236}">
                  <a16:creationId xmlns:a16="http://schemas.microsoft.com/office/drawing/2014/main" id="{FEFFC2AB-5059-384C-AFCD-12489B6B9CCF}"/>
                </a:ext>
              </a:extLst>
            </p:cNvPr>
            <p:cNvCxnSpPr/>
            <p:nvPr/>
          </p:nvCxnSpPr>
          <p:spPr>
            <a:xfrm flipH="1">
              <a:off x="8979062" y="262633"/>
              <a:ext cx="6000" cy="2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9978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2D5F6-7784-114E-8EB4-14AD97E0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Распределение тем отзывов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6713B9C-3B48-184D-AC1E-59000F67B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1255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На изображении топ10 тем с наиболее важными словами (</a:t>
            </a:r>
            <a:r>
              <a:rPr lang="ru-RU" dirty="0" err="1"/>
              <a:t>T</a:t>
            </a:r>
            <a:r>
              <a:rPr lang="en-US" dirty="0"/>
              <a:t>F-IDF)</a:t>
            </a:r>
            <a:r>
              <a:rPr lang="ru-RU" dirty="0"/>
              <a:t>, выделенных BE</a:t>
            </a:r>
            <a:r>
              <a:rPr lang="en-US" dirty="0" err="1"/>
              <a:t>RTopic</a:t>
            </a:r>
            <a:r>
              <a:rPr lang="en-US" dirty="0"/>
              <a:t>,</a:t>
            </a:r>
            <a:r>
              <a:rPr lang="ru-RU" dirty="0"/>
              <a:t> также есть </a:t>
            </a:r>
            <a:r>
              <a:rPr lang="en-US" dirty="0"/>
              <a:t>Topic -1 </a:t>
            </a:r>
            <a:r>
              <a:rPr lang="en-US" dirty="0" err="1"/>
              <a:t>к</a:t>
            </a:r>
            <a:r>
              <a:rPr lang="ru-RU" dirty="0"/>
              <a:t>уда попадает шум. </a:t>
            </a:r>
          </a:p>
          <a:p>
            <a:pPr marL="0" indent="0">
              <a:buNone/>
            </a:pPr>
            <a:r>
              <a:rPr lang="ru-RU" dirty="0"/>
              <a:t>Первые 2 темы не очень хорошо выделились, однако по остальные ярко выражены:</a:t>
            </a:r>
          </a:p>
          <a:p>
            <a:pPr marL="0" indent="0">
              <a:buNone/>
            </a:pPr>
            <a:r>
              <a:rPr lang="ru-RU" dirty="0"/>
              <a:t>Японские фильмы о боевых искусствах, индийские фильмы, религиозные и так далее.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2C4FE9-D881-8D4D-8CCD-409ABA2DF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455" y="1809492"/>
            <a:ext cx="6227472" cy="4503977"/>
          </a:xfrm>
          <a:prstGeom prst="rect">
            <a:avLst/>
          </a:prstGeom>
        </p:spPr>
      </p:pic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0A18F6B-00F8-3345-A6D9-46D55A1109C1}"/>
              </a:ext>
            </a:extLst>
          </p:cNvPr>
          <p:cNvGrpSpPr/>
          <p:nvPr/>
        </p:nvGrpSpPr>
        <p:grpSpPr>
          <a:xfrm>
            <a:off x="8143387" y="216000"/>
            <a:ext cx="3755375" cy="298250"/>
            <a:chOff x="8143387" y="216000"/>
            <a:chExt cx="3755375" cy="298250"/>
          </a:xfrm>
        </p:grpSpPr>
        <p:pic>
          <p:nvPicPr>
            <p:cNvPr id="10" name="Google Shape;61;p2">
              <a:extLst>
                <a:ext uri="{FF2B5EF4-FFF2-40B4-BE49-F238E27FC236}">
                  <a16:creationId xmlns:a16="http://schemas.microsoft.com/office/drawing/2014/main" id="{3DECE1CC-6A43-884B-9962-C05F762B9F3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08837" y="216000"/>
              <a:ext cx="1089925" cy="29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62;p2">
              <a:extLst>
                <a:ext uri="{FF2B5EF4-FFF2-40B4-BE49-F238E27FC236}">
                  <a16:creationId xmlns:a16="http://schemas.microsoft.com/office/drawing/2014/main" id="{A1164C89-97E5-A54E-BF45-5F84D51534F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43387" y="294971"/>
              <a:ext cx="630875" cy="16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63;p2">
              <a:extLst>
                <a:ext uri="{FF2B5EF4-FFF2-40B4-BE49-F238E27FC236}">
                  <a16:creationId xmlns:a16="http://schemas.microsoft.com/office/drawing/2014/main" id="{A5DD2BB0-2ABC-094D-AC2C-EE7D9BCD1C1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189862" y="319658"/>
              <a:ext cx="1381824" cy="115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" name="Google Shape;64;p2">
              <a:extLst>
                <a:ext uri="{FF2B5EF4-FFF2-40B4-BE49-F238E27FC236}">
                  <a16:creationId xmlns:a16="http://schemas.microsoft.com/office/drawing/2014/main" id="{FD1D865F-71AE-BC48-9BDE-54BD8719377A}"/>
                </a:ext>
              </a:extLst>
            </p:cNvPr>
            <p:cNvCxnSpPr/>
            <p:nvPr/>
          </p:nvCxnSpPr>
          <p:spPr>
            <a:xfrm flipH="1">
              <a:off x="8979062" y="262633"/>
              <a:ext cx="6000" cy="2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636818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9F269-49B1-5240-A1F3-8F794D3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Анализ настроений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FDF58-D50F-ED41-A481-0F7A2E8EA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090"/>
            <a:ext cx="10515600" cy="35796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В качестве </a:t>
            </a:r>
            <a:r>
              <a:rPr lang="ru-RU" dirty="0" err="1"/>
              <a:t>бейзлайн</a:t>
            </a:r>
            <a:r>
              <a:rPr lang="ru-RU" dirty="0"/>
              <a:t> решения для анализа тональности была выбрана связка </a:t>
            </a:r>
            <a:r>
              <a:rPr lang="en" dirty="0"/>
              <a:t>TF-IDF + Logistic Regression, </a:t>
            </a:r>
            <a:r>
              <a:rPr lang="ru-RU" dirty="0"/>
              <a:t>что обусловлено следующими причинами:</a:t>
            </a:r>
          </a:p>
          <a:p>
            <a:pPr marL="0" indent="0">
              <a:buNone/>
            </a:pPr>
            <a:r>
              <a:rPr lang="ru-RU" dirty="0"/>
              <a:t>1. Простота и интерпретируемость</a:t>
            </a:r>
            <a:endParaRPr lang="en" dirty="0"/>
          </a:p>
          <a:p>
            <a:pPr marL="0" indent="0">
              <a:buNone/>
            </a:pPr>
            <a:r>
              <a:rPr lang="en" dirty="0"/>
              <a:t>2. </a:t>
            </a:r>
            <a:r>
              <a:rPr lang="ru-RU" dirty="0"/>
              <a:t>Эффективность на 50 тыс. «документов» в силу ограниченности вычислительных ресурсов, также эффективно по времени</a:t>
            </a:r>
          </a:p>
          <a:p>
            <a:pPr marL="0" indent="0">
              <a:buNone/>
            </a:pPr>
            <a:r>
              <a:rPr lang="ru-RU" dirty="0"/>
              <a:t>3. Дает хорошее качество (</a:t>
            </a:r>
            <a:r>
              <a:rPr lang="en" dirty="0"/>
              <a:t>F1-score 85–90% </a:t>
            </a:r>
            <a:r>
              <a:rPr lang="ru-RU" dirty="0"/>
              <a:t>для бинарной классификации).</a:t>
            </a:r>
          </a:p>
          <a:p>
            <a:pPr marL="0" indent="0">
              <a:buNone/>
            </a:pPr>
            <a:r>
              <a:rPr lang="ru-RU" dirty="0"/>
              <a:t>Так как </a:t>
            </a:r>
            <a:r>
              <a:rPr lang="en-US" dirty="0" err="1"/>
              <a:t>tf-idf</a:t>
            </a:r>
            <a:r>
              <a:rPr lang="en-US" dirty="0"/>
              <a:t> </a:t>
            </a:r>
            <a:r>
              <a:rPr lang="ru-RU" dirty="0"/>
              <a:t>не улавливает контекст, было добавлено использование </a:t>
            </a:r>
            <a:r>
              <a:rPr lang="ru-RU" dirty="0" err="1"/>
              <a:t>биграм</a:t>
            </a:r>
            <a:r>
              <a:rPr lang="ru-RU" dirty="0"/>
              <a:t>, что немного поможет его улавливать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30AF70C-8F30-864B-BCA8-230765A649A9}"/>
              </a:ext>
            </a:extLst>
          </p:cNvPr>
          <p:cNvGrpSpPr/>
          <p:nvPr/>
        </p:nvGrpSpPr>
        <p:grpSpPr>
          <a:xfrm>
            <a:off x="8143387" y="216000"/>
            <a:ext cx="3755375" cy="298250"/>
            <a:chOff x="8143387" y="216000"/>
            <a:chExt cx="3755375" cy="298250"/>
          </a:xfrm>
        </p:grpSpPr>
        <p:pic>
          <p:nvPicPr>
            <p:cNvPr id="5" name="Google Shape;61;p2">
              <a:extLst>
                <a:ext uri="{FF2B5EF4-FFF2-40B4-BE49-F238E27FC236}">
                  <a16:creationId xmlns:a16="http://schemas.microsoft.com/office/drawing/2014/main" id="{6CD81C24-0FEF-4E43-BD49-616B4D7DC47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08837" y="216000"/>
              <a:ext cx="1089925" cy="29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62;p2">
              <a:extLst>
                <a:ext uri="{FF2B5EF4-FFF2-40B4-BE49-F238E27FC236}">
                  <a16:creationId xmlns:a16="http://schemas.microsoft.com/office/drawing/2014/main" id="{0D3C608C-831B-0340-80EB-CF6D49E35FE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43387" y="294971"/>
              <a:ext cx="630875" cy="16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63;p2">
              <a:extLst>
                <a:ext uri="{FF2B5EF4-FFF2-40B4-BE49-F238E27FC236}">
                  <a16:creationId xmlns:a16="http://schemas.microsoft.com/office/drawing/2014/main" id="{562A1BC8-6205-F14F-B3C1-0932DCD3062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89862" y="319658"/>
              <a:ext cx="1381824" cy="115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" name="Google Shape;64;p2">
              <a:extLst>
                <a:ext uri="{FF2B5EF4-FFF2-40B4-BE49-F238E27FC236}">
                  <a16:creationId xmlns:a16="http://schemas.microsoft.com/office/drawing/2014/main" id="{8D28F88E-36CC-5043-9822-4CBDE5D95E94}"/>
                </a:ext>
              </a:extLst>
            </p:cNvPr>
            <p:cNvCxnSpPr/>
            <p:nvPr/>
          </p:nvCxnSpPr>
          <p:spPr>
            <a:xfrm flipH="1">
              <a:off x="8979062" y="262633"/>
              <a:ext cx="6000" cy="2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BFEC44-E1A3-6B43-91B5-B5720CF2E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23" y="4781410"/>
            <a:ext cx="56388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2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5B798-635F-614C-AF91-E7F2EA1D0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37" y="-71938"/>
            <a:ext cx="10515600" cy="1325563"/>
          </a:xfrm>
        </p:spPr>
        <p:txBody>
          <a:bodyPr/>
          <a:lstStyle/>
          <a:p>
            <a:r>
              <a:rPr lang="en-US" dirty="0"/>
              <a:t>Demo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644386C-52DD-1046-A9FF-74B490D0333A}"/>
              </a:ext>
            </a:extLst>
          </p:cNvPr>
          <p:cNvGrpSpPr/>
          <p:nvPr/>
        </p:nvGrpSpPr>
        <p:grpSpPr>
          <a:xfrm>
            <a:off x="8143387" y="216000"/>
            <a:ext cx="3755375" cy="298250"/>
            <a:chOff x="8143387" y="216000"/>
            <a:chExt cx="3755375" cy="298250"/>
          </a:xfrm>
        </p:grpSpPr>
        <p:pic>
          <p:nvPicPr>
            <p:cNvPr id="5" name="Google Shape;61;p2">
              <a:extLst>
                <a:ext uri="{FF2B5EF4-FFF2-40B4-BE49-F238E27FC236}">
                  <a16:creationId xmlns:a16="http://schemas.microsoft.com/office/drawing/2014/main" id="{EE292574-2A05-2746-9015-178BF1F218F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08837" y="216000"/>
              <a:ext cx="1089925" cy="29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62;p2">
              <a:extLst>
                <a:ext uri="{FF2B5EF4-FFF2-40B4-BE49-F238E27FC236}">
                  <a16:creationId xmlns:a16="http://schemas.microsoft.com/office/drawing/2014/main" id="{61D54069-63F0-4542-8371-6E4AA109F48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43387" y="294971"/>
              <a:ext cx="630875" cy="16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63;p2">
              <a:extLst>
                <a:ext uri="{FF2B5EF4-FFF2-40B4-BE49-F238E27FC236}">
                  <a16:creationId xmlns:a16="http://schemas.microsoft.com/office/drawing/2014/main" id="{45D50C0F-0EC5-524F-8F7D-4532E5B22A3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89862" y="319658"/>
              <a:ext cx="1381824" cy="115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" name="Google Shape;64;p2">
              <a:extLst>
                <a:ext uri="{FF2B5EF4-FFF2-40B4-BE49-F238E27FC236}">
                  <a16:creationId xmlns:a16="http://schemas.microsoft.com/office/drawing/2014/main" id="{652B5F75-405A-FC49-899F-90F431DAB9A4}"/>
                </a:ext>
              </a:extLst>
            </p:cNvPr>
            <p:cNvCxnSpPr/>
            <p:nvPr/>
          </p:nvCxnSpPr>
          <p:spPr>
            <a:xfrm flipH="1">
              <a:off x="8979062" y="262633"/>
              <a:ext cx="6000" cy="2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CA02BA0-4D35-FE4F-833A-82A37B06C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68513"/>
            <a:ext cx="6396711" cy="3987794"/>
          </a:xfrm>
          <a:prstGeom prst="rect">
            <a:avLst/>
          </a:prstGeo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428589E4-9DD8-3D49-80E1-48E7A8C9B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5192237" y="2506662"/>
            <a:ext cx="69997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86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208AC-92C1-D04C-AE48-DBDF1609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C59B85-3AAA-364B-B5AC-CCCDE7EA0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967" y="1713276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Мухтаров Т.Т.</a:t>
            </a:r>
          </a:p>
          <a:p>
            <a:pPr marL="0" indent="0">
              <a:buNone/>
            </a:pPr>
            <a:r>
              <a:rPr lang="en-US" dirty="0"/>
              <a:t>ML Engineer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C8578D5-4CAF-8444-B0CB-C68031586A74}"/>
              </a:ext>
            </a:extLst>
          </p:cNvPr>
          <p:cNvGrpSpPr/>
          <p:nvPr/>
        </p:nvGrpSpPr>
        <p:grpSpPr>
          <a:xfrm>
            <a:off x="8143387" y="216000"/>
            <a:ext cx="3755375" cy="298250"/>
            <a:chOff x="8143387" y="216000"/>
            <a:chExt cx="3755375" cy="298250"/>
          </a:xfrm>
        </p:grpSpPr>
        <p:pic>
          <p:nvPicPr>
            <p:cNvPr id="5" name="Google Shape;61;p2">
              <a:extLst>
                <a:ext uri="{FF2B5EF4-FFF2-40B4-BE49-F238E27FC236}">
                  <a16:creationId xmlns:a16="http://schemas.microsoft.com/office/drawing/2014/main" id="{66399429-5430-3E4B-A0FF-E274315AA78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08837" y="216000"/>
              <a:ext cx="1089925" cy="29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62;p2">
              <a:extLst>
                <a:ext uri="{FF2B5EF4-FFF2-40B4-BE49-F238E27FC236}">
                  <a16:creationId xmlns:a16="http://schemas.microsoft.com/office/drawing/2014/main" id="{2B5FA50C-E7BE-4843-AB8C-2F323EE1CDC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43387" y="294971"/>
              <a:ext cx="630875" cy="16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63;p2">
              <a:extLst>
                <a:ext uri="{FF2B5EF4-FFF2-40B4-BE49-F238E27FC236}">
                  <a16:creationId xmlns:a16="http://schemas.microsoft.com/office/drawing/2014/main" id="{3935CDBF-63E5-CE4A-A7C5-583C7D5212C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89862" y="319658"/>
              <a:ext cx="1381824" cy="115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" name="Google Shape;64;p2">
              <a:extLst>
                <a:ext uri="{FF2B5EF4-FFF2-40B4-BE49-F238E27FC236}">
                  <a16:creationId xmlns:a16="http://schemas.microsoft.com/office/drawing/2014/main" id="{2CB7CDFC-771E-FE4E-8888-93C7F0CC04D8}"/>
                </a:ext>
              </a:extLst>
            </p:cNvPr>
            <p:cNvCxnSpPr/>
            <p:nvPr/>
          </p:nvCxnSpPr>
          <p:spPr>
            <a:xfrm flipH="1">
              <a:off x="8979062" y="262633"/>
              <a:ext cx="6000" cy="2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70004FC-02D7-6943-989C-A778B48893F7}"/>
              </a:ext>
            </a:extLst>
          </p:cNvPr>
          <p:cNvGrpSpPr/>
          <p:nvPr/>
        </p:nvGrpSpPr>
        <p:grpSpPr>
          <a:xfrm>
            <a:off x="2147475" y="2119006"/>
            <a:ext cx="1915241" cy="1882288"/>
            <a:chOff x="1649762" y="2677176"/>
            <a:chExt cx="883500" cy="895800"/>
          </a:xfrm>
        </p:grpSpPr>
        <p:sp>
          <p:nvSpPr>
            <p:cNvPr id="9" name="Google Shape;174;p9">
              <a:extLst>
                <a:ext uri="{FF2B5EF4-FFF2-40B4-BE49-F238E27FC236}">
                  <a16:creationId xmlns:a16="http://schemas.microsoft.com/office/drawing/2014/main" id="{D2D936E4-F4D8-394D-AB92-B66DD509707B}"/>
                </a:ext>
              </a:extLst>
            </p:cNvPr>
            <p:cNvSpPr/>
            <p:nvPr/>
          </p:nvSpPr>
          <p:spPr>
            <a:xfrm>
              <a:off x="1649762" y="2677176"/>
              <a:ext cx="883500" cy="895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" name="Google Shape;175;p9">
              <a:extLst>
                <a:ext uri="{FF2B5EF4-FFF2-40B4-BE49-F238E27FC236}">
                  <a16:creationId xmlns:a16="http://schemas.microsoft.com/office/drawing/2014/main" id="{C2302AE6-32B3-324A-A0B2-CB614774758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68262" y="2820114"/>
              <a:ext cx="646500" cy="646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12B7303-AC54-BA4E-B2D8-E380641813C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691" t="37806" r="18151" b="28102"/>
          <a:stretch/>
        </p:blipFill>
        <p:spPr>
          <a:xfrm>
            <a:off x="6829660" y="2313216"/>
            <a:ext cx="2627453" cy="27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029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</TotalTime>
  <Words>689</Words>
  <Application>Microsoft Macintosh PowerPoint</Application>
  <PresentationFormat>Широкоэкранный</PresentationFormat>
  <Paragraphs>74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Анализ пользовательских отзывов с NLP</vt:lpstr>
      <vt:lpstr>Для чего нужен анализ пользовательских отзывов? </vt:lpstr>
      <vt:lpstr>Как решать задачу?</vt:lpstr>
      <vt:lpstr>Датасет</vt:lpstr>
      <vt:lpstr>Предобработка данных</vt:lpstr>
      <vt:lpstr>Тематическое моделирование</vt:lpstr>
      <vt:lpstr>Распределение тем отзывов</vt:lpstr>
      <vt:lpstr>Анализ настроений</vt:lpstr>
      <vt:lpstr>Demo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пользовательских отзывов с NLP</dc:title>
  <dc:creator>Тимерлан Мухтаров</dc:creator>
  <cp:lastModifiedBy>Тимерлан Мухтаров</cp:lastModifiedBy>
  <cp:revision>3</cp:revision>
  <dcterms:created xsi:type="dcterms:W3CDTF">2025-03-06T08:09:02Z</dcterms:created>
  <dcterms:modified xsi:type="dcterms:W3CDTF">2025-03-06T12:08:19Z</dcterms:modified>
</cp:coreProperties>
</file>